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88" r:id="rId7"/>
    <p:sldId id="289" r:id="rId8"/>
    <p:sldId id="266" r:id="rId9"/>
    <p:sldId id="264" r:id="rId10"/>
    <p:sldId id="277" r:id="rId11"/>
    <p:sldId id="278" r:id="rId12"/>
    <p:sldId id="279" r:id="rId13"/>
    <p:sldId id="280" r:id="rId14"/>
    <p:sldId id="281" r:id="rId15"/>
    <p:sldId id="282" r:id="rId16"/>
    <p:sldId id="267" r:id="rId17"/>
    <p:sldId id="268" r:id="rId18"/>
    <p:sldId id="269" r:id="rId19"/>
    <p:sldId id="270" r:id="rId20"/>
    <p:sldId id="271" r:id="rId21"/>
    <p:sldId id="273" r:id="rId22"/>
    <p:sldId id="275" r:id="rId23"/>
    <p:sldId id="274" r:id="rId24"/>
    <p:sldId id="276" r:id="rId25"/>
    <p:sldId id="283" r:id="rId26"/>
    <p:sldId id="286" r:id="rId27"/>
    <p:sldId id="287" r:id="rId28"/>
    <p:sldId id="284" r:id="rId29"/>
    <p:sldId id="285" r:id="rId30"/>
    <p:sldId id="259" r:id="rId31"/>
    <p:sldId id="263" r:id="rId3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11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0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10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33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4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image" Target="../media/image38.png"/><Relationship Id="rId1" Type="http://schemas.openxmlformats.org/officeDocument/2006/relationships/tags" Target="../tags/tag11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tags" Target="../tags/tag11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0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tags" Target="../tags/tag1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tags" Target="../tags/tag129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tags" Target="../tags/tag13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6.xml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3" Type="http://schemas.openxmlformats.org/officeDocument/2006/relationships/image" Target="../media/image14.png"/><Relationship Id="rId2" Type="http://schemas.openxmlformats.org/officeDocument/2006/relationships/image" Target="../media/image50.png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914400"/>
            <a:ext cx="9799200" cy="2570400"/>
          </a:xfrm>
        </p:spPr>
        <p:txBody>
          <a:bodyPr>
            <a:normAutofit/>
          </a:bodyPr>
          <a:p>
            <a:r>
              <a:rPr lang="en-US" altLang="ru-RU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CLiPE</a:t>
            </a:r>
            <a:endParaRPr lang="en-US" altLang="ru-RU" b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6260" y="3560400"/>
            <a:ext cx="9799200" cy="1472400"/>
          </a:xfrm>
        </p:spPr>
        <p:txBody>
          <a:bodyPr>
            <a:normAutofit lnSpcReduction="10000"/>
          </a:bodyPr>
          <a:p>
            <a:r>
              <a:rPr lang="ru-RU" altLang="en-US" spc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Ц</a:t>
            </a:r>
            <a:r>
              <a:rPr lang="en-US" altLang="en-US" spc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ентрализованн</a:t>
            </a:r>
            <a:r>
              <a:rPr lang="ru-RU" altLang="en-US" spc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ая система</a:t>
            </a:r>
            <a:r>
              <a:rPr lang="en-US" altLang="en-US" spc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 управления доступом</a:t>
            </a:r>
            <a:endParaRPr lang="en-US" altLang="en-US" spc="0">
              <a:solidFill>
                <a:schemeClr val="tx1">
                  <a:lumMod val="65000"/>
                  <a:lumOff val="3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  <a:p>
            <a:r>
              <a:rPr lang="en-US" altLang="en-US" spc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для Linux-хостов</a:t>
            </a:r>
            <a:endParaRPr lang="en-US" altLang="en-US" spc="0">
              <a:solidFill>
                <a:schemeClr val="tx1">
                  <a:lumMod val="65000"/>
                  <a:lumOff val="3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0065"/>
            <a:ext cx="1257935" cy="125793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3048000" y="5685790"/>
            <a:ext cx="9144000" cy="11722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Выполнил: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Студен группы 3093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  <a:p>
            <a:pPr algn="r" fontAlgn="auto">
              <a:lnSpc>
                <a:spcPct val="100000"/>
              </a:lnSpc>
              <a:spcBef>
                <a:spcPts val="0"/>
              </a:spcBef>
            </a:pPr>
            <a:r>
              <a:rPr lang="ru-RU" altLang="en-US">
                <a:solidFill>
                  <a:schemeClr val="bg2">
                    <a:lumMod val="90000"/>
                  </a:schemeClr>
                </a:solidFill>
                <a:latin typeface="DIN Alternate" panose="020B0500000000000000" charset="0"/>
                <a:cs typeface="DIN Alternate" panose="020B0500000000000000" charset="0"/>
              </a:rPr>
              <a:t>Михайлов Роман</a:t>
            </a:r>
            <a:endParaRPr lang="ru-RU" altLang="en-US">
              <a:solidFill>
                <a:schemeClr val="bg2">
                  <a:lumMod val="90000"/>
                </a:schemeClr>
              </a:solidFill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Постановка задачи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187440" cy="4759325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Цель</a:t>
            </a:r>
            <a:endParaRPr lang="ru-RU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Создание централизованной системы управления доступом для Linux-хостов на основе PAM и политик доступа.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Предлагаемое решение: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• разделение компонентов на 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точку инициирования проверки</a:t>
            </a: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 и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 </a:t>
            </a: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сервер принятия решений;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• централизованное хранение и управление политиками доступа;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• принятие решений на основе пользователя, сервиса, хоста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, </a:t>
            </a: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временного контекста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 и других атрибутов</a:t>
            </a: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;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pc="0">
                <a:solidFill>
                  <a:schemeClr val="tx1"/>
                </a:solidFill>
                <a:uFillTx/>
                <a:latin typeface="DIN Alternate" panose="020B0500000000000000" charset="0"/>
                <a:ea typeface="汉仪旗黑Y3-35简" panose="00020600040101010101" charset="-122"/>
                <a:cs typeface="DIN Alternate" panose="020B0500000000000000" charset="0"/>
                <a:sym typeface="+mn-ea"/>
              </a:rPr>
              <a:t>• журналирование запросов и решений.</a:t>
            </a:r>
            <a:endParaRPr lang="en-US" altLang="en-US" spc="0">
              <a:solidFill>
                <a:schemeClr val="tx1"/>
              </a:solidFill>
              <a:uFillTx/>
              <a:latin typeface="DIN Alternate" panose="020B0500000000000000" charset="0"/>
              <a:ea typeface="汉仪旗黑Y3-35简" panose="00020600040101010101" charset="-122"/>
              <a:cs typeface="DIN Alternate" panose="020B0500000000000000" charset="0"/>
              <a:sym typeface="+mn-ea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C4 (концепция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235" y="2020570"/>
            <a:ext cx="4363085" cy="3717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 субъектов взаимодействия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933450"/>
          </a:xfrm>
        </p:spPr>
        <p:txBody>
          <a:bodyPr/>
          <a:p>
            <a:pPr marL="0" indent="0">
              <a:buNone/>
            </a:pP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Предусмотрено две роли для взаимодействия с системой: системный администратор и пользователь </a:t>
            </a:r>
            <a:r>
              <a:rPr lang="en-US" alt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Linux-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хоста, запрашивающий доступ к сервису</a:t>
            </a:r>
            <a:endParaRPr lang="ru-RU" altLang="en-US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4" name="Picture 3" descr="Организационная диаграмм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219450"/>
            <a:ext cx="3613150" cy="2106295"/>
          </a:xfrm>
          <a:prstGeom prst="rect">
            <a:avLst/>
          </a:prstGeom>
        </p:spPr>
      </p:pic>
      <p:pic>
        <p:nvPicPr>
          <p:cNvPr id="5" name="Picture 4" descr="UML (use cas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535" y="2873375"/>
            <a:ext cx="5671820" cy="3242945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3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 функциональности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ru-RU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4</a:t>
                      </a:r>
                      <a:endParaRPr lang="en-US" altLang="ru-RU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8" name="Picture 7" descr="IDEF0 (контекст)"/>
          <p:cNvPicPr>
            <a:picLocks noChangeAspect="1"/>
          </p:cNvPicPr>
          <p:nvPr/>
        </p:nvPicPr>
        <p:blipFill>
          <a:blip r:embed="rId2"/>
          <a:srcRect l="3119" t="3696" r="3129" b="8355"/>
          <a:stretch>
            <a:fillRect/>
          </a:stretch>
        </p:blipFill>
        <p:spPr>
          <a:xfrm>
            <a:off x="6918325" y="1470660"/>
            <a:ext cx="4873625" cy="3112135"/>
          </a:xfrm>
          <a:prstGeom prst="rect">
            <a:avLst/>
          </a:prstGeom>
        </p:spPr>
      </p:pic>
      <p:pic>
        <p:nvPicPr>
          <p:cNvPr id="9" name="Picture 8" descr="IDEF0 (декомпозиция)"/>
          <p:cNvPicPr>
            <a:picLocks noChangeAspect="1"/>
          </p:cNvPicPr>
          <p:nvPr/>
        </p:nvPicPr>
        <p:blipFill>
          <a:blip r:embed="rId3"/>
          <a:srcRect l="1635" t="2150" r="738" b="6195"/>
          <a:stretch>
            <a:fillRect/>
          </a:stretch>
        </p:blipFill>
        <p:spPr>
          <a:xfrm>
            <a:off x="434975" y="2640330"/>
            <a:ext cx="7712075" cy="364807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9792970" y="3210560"/>
            <a:ext cx="5702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000"/>
              <a:t>А0</a:t>
            </a:r>
            <a:endParaRPr lang="ru-RU" altLang="en-US" sz="100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1490345"/>
            <a:ext cx="6459855" cy="933450"/>
          </a:xfrm>
        </p:spPr>
        <p:txBody>
          <a:bodyPr/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Основным функционалом системы является принятие решения о предоставлении доступа</a:t>
            </a:r>
            <a:endParaRPr lang="ru-RU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 потоков и схемы данных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5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DFD (концепция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5" y="3608070"/>
            <a:ext cx="5836920" cy="592455"/>
          </a:xfrm>
          <a:prstGeom prst="rect">
            <a:avLst/>
          </a:prstGeom>
        </p:spPr>
      </p:pic>
      <p:pic>
        <p:nvPicPr>
          <p:cNvPr id="7" name="Picture 6" descr="Блок-схема (схема данных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005" y="1691640"/>
            <a:ext cx="4425315" cy="4425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Описание потоков данных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6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Content Placeholder 3" descr="DFD (логический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94815"/>
            <a:ext cx="6049645" cy="2864485"/>
          </a:xfrm>
          <a:prstGeom prst="rect">
            <a:avLst/>
          </a:prstGeom>
        </p:spPr>
      </p:pic>
      <p:pic>
        <p:nvPicPr>
          <p:cNvPr id="5" name="Picture 4" descr="DFD (физический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725" y="3375660"/>
            <a:ext cx="5754370" cy="27241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 бизнес-процесса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933450"/>
          </a:xfrm>
        </p:spPr>
        <p:txBody>
          <a:bodyPr/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Основным бизнес процессом системы ялвляется упрвление доступом для хостов</a:t>
            </a:r>
            <a:endParaRPr lang="ru-RU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7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7" name="Picture 6" descr="BPM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3795"/>
            <a:ext cx="12192000" cy="29927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</a:t>
            </a:r>
            <a:r>
              <a:rPr lang="en-US" altLang="ru-RU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 </a:t>
            </a:r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сценариев взамодействия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8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7" name="Picture 6" descr="IDEF3 (настрока политики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2059305"/>
            <a:ext cx="12130405" cy="1377315"/>
          </a:xfrm>
          <a:prstGeom prst="rect">
            <a:avLst/>
          </a:prstGeom>
        </p:spPr>
      </p:pic>
      <p:pic>
        <p:nvPicPr>
          <p:cNvPr id="8" name="Picture 7" descr="IDEF3 (получение доступ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" y="4174490"/>
            <a:ext cx="12134088" cy="2291573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1570355"/>
            <a:ext cx="10968990" cy="933450"/>
          </a:xfrm>
        </p:spPr>
        <p:txBody>
          <a:bodyPr/>
          <a:p>
            <a:pPr marL="0" indent="0">
              <a:buNone/>
            </a:pP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Процесс настройки политик доступа</a:t>
            </a:r>
            <a:endParaRPr lang="ru-RU" altLang="en-US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330" y="3667760"/>
            <a:ext cx="10968990" cy="93345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Процесс получения решения о предоставлении доступа</a:t>
            </a:r>
            <a:endParaRPr lang="ru-RU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9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3788410"/>
            <a:ext cx="2108200" cy="2446020"/>
          </a:xfrm>
          <a:prstGeom prst="rect">
            <a:avLst/>
          </a:prstGeom>
        </p:spPr>
      </p:pic>
      <p:pic>
        <p:nvPicPr>
          <p:cNvPr id="22" name="Picture 4" descr="Снимок экрана 2026-03-18 в 07.42.01"/>
          <p:cNvPicPr>
            <a:picLocks noChangeAspect="1"/>
          </p:cNvPicPr>
          <p:nvPr/>
        </p:nvPicPr>
        <p:blipFill>
          <a:blip r:embed="rId3"/>
          <a:srcRect l="328"/>
          <a:stretch>
            <a:fillRect/>
          </a:stretch>
        </p:blipFill>
        <p:spPr>
          <a:xfrm>
            <a:off x="3665220" y="608330"/>
            <a:ext cx="7912100" cy="56267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10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3788410"/>
            <a:ext cx="2108200" cy="2446020"/>
          </a:xfrm>
          <a:prstGeom prst="rect">
            <a:avLst/>
          </a:prstGeom>
        </p:spPr>
      </p:pic>
      <p:pic>
        <p:nvPicPr>
          <p:cNvPr id="5" name="Picture 1" descr="Снимок экрана 2026-03-18 в 07.43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30" y="610870"/>
            <a:ext cx="7920820" cy="5623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11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3788410"/>
            <a:ext cx="2108200" cy="2446020"/>
          </a:xfrm>
          <a:prstGeom prst="rect">
            <a:avLst/>
          </a:prstGeom>
        </p:spPr>
      </p:pic>
      <p:pic>
        <p:nvPicPr>
          <p:cNvPr id="26" name="Picture 3" descr="Снимок экрана 2026-03-18 в 07.43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30" y="608330"/>
            <a:ext cx="7920820" cy="5623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12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3788410"/>
            <a:ext cx="2108200" cy="2446020"/>
          </a:xfrm>
          <a:prstGeom prst="rect">
            <a:avLst/>
          </a:prstGeom>
        </p:spPr>
      </p:pic>
      <p:pic>
        <p:nvPicPr>
          <p:cNvPr id="27" name="Picture 3" descr="Снимок экрана 2026-03-18 в 07.43.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30" y="610870"/>
            <a:ext cx="7920820" cy="5623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13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3788410"/>
            <a:ext cx="2108200" cy="2446020"/>
          </a:xfrm>
          <a:prstGeom prst="rect">
            <a:avLst/>
          </a:prstGeom>
        </p:spPr>
      </p:pic>
      <p:pic>
        <p:nvPicPr>
          <p:cNvPr id="3" name="Picture 3" descr="Снимок экрана 2026-03-18 в 07.45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30" y="610870"/>
            <a:ext cx="7920820" cy="5623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Прототип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14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Снимок экрана 2026-06-01 в 21.42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3785870"/>
            <a:ext cx="2108200" cy="2446020"/>
          </a:xfrm>
          <a:prstGeom prst="rect">
            <a:avLst/>
          </a:prstGeom>
        </p:spPr>
      </p:pic>
      <p:pic>
        <p:nvPicPr>
          <p:cNvPr id="29" name="Picture 4" descr="Снимок экрана 2026-03-18 в 07.44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30" y="608330"/>
            <a:ext cx="7920820" cy="5623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ru-RU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Используемые технологии</a:t>
            </a:r>
            <a:endParaRPr lang="en-US" altLang="ru-RU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47155"/>
          <a:ext cx="12192000" cy="410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41084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15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6" name="Picture 5" descr="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" y="1904365"/>
            <a:ext cx="2177415" cy="808990"/>
          </a:xfrm>
          <a:prstGeom prst="rect">
            <a:avLst/>
          </a:prstGeom>
        </p:spPr>
      </p:pic>
      <p:pic>
        <p:nvPicPr>
          <p:cNvPr id="7" name="Picture 6" descr="c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760" y="1610360"/>
            <a:ext cx="1217713" cy="1371600"/>
          </a:xfrm>
          <a:prstGeom prst="rect">
            <a:avLst/>
          </a:prstGeom>
        </p:spPr>
      </p:pic>
      <p:pic>
        <p:nvPicPr>
          <p:cNvPr id="13" name="Picture 12" descr="re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535" y="1594485"/>
            <a:ext cx="1539948" cy="1371600"/>
          </a:xfrm>
          <a:prstGeom prst="rect">
            <a:avLst/>
          </a:prstGeom>
        </p:spPr>
      </p:pic>
      <p:pic>
        <p:nvPicPr>
          <p:cNvPr id="14" name="Picture 13" descr="pyth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7435" y="1610360"/>
            <a:ext cx="1371600" cy="1371600"/>
          </a:xfrm>
          <a:prstGeom prst="rect">
            <a:avLst/>
          </a:prstGeom>
        </p:spPr>
      </p:pic>
      <p:pic>
        <p:nvPicPr>
          <p:cNvPr id="15" name="Picture 14" descr="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3680" y="4036060"/>
            <a:ext cx="1329723" cy="1371600"/>
          </a:xfrm>
          <a:prstGeom prst="rect">
            <a:avLst/>
          </a:prstGeom>
        </p:spPr>
      </p:pic>
      <p:pic>
        <p:nvPicPr>
          <p:cNvPr id="16" name="Picture 15" descr="cmak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860" y="4036060"/>
            <a:ext cx="1371600" cy="1371600"/>
          </a:xfrm>
          <a:prstGeom prst="rect">
            <a:avLst/>
          </a:prstGeom>
        </p:spPr>
      </p:pic>
      <p:pic>
        <p:nvPicPr>
          <p:cNvPr id="17" name="Picture 16" descr="nginx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2990" y="4047490"/>
            <a:ext cx="1371600" cy="1371600"/>
          </a:xfrm>
          <a:prstGeom prst="rect">
            <a:avLst/>
          </a:prstGeom>
        </p:spPr>
      </p:pic>
      <p:pic>
        <p:nvPicPr>
          <p:cNvPr id="18" name="Picture 17" descr="docke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5370" y="4036060"/>
            <a:ext cx="1897998" cy="137160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1127125" y="3052445"/>
            <a:ext cx="224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API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 и сервер принятия решений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738880" y="3156585"/>
            <a:ext cx="1771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DIN Alternate" panose="020B0500000000000000" charset="0"/>
                <a:cs typeface="DIN Alternate" panose="020B0500000000000000" charset="0"/>
              </a:rPr>
              <a:t>PAM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 модуль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879465" y="3147695"/>
            <a:ext cx="1898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>
                <a:latin typeface="DIN Alternate" panose="020B0500000000000000" charset="0"/>
                <a:cs typeface="DIN Alternate" panose="020B0500000000000000" charset="0"/>
              </a:rPr>
              <a:t>Веб-интерфейс</a:t>
            </a:r>
            <a:endParaRPr 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969885" y="3155950"/>
            <a:ext cx="3308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Вспомогательные скрипты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304925" y="5625465"/>
            <a:ext cx="1770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База данных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3867785" y="5625465"/>
            <a:ext cx="164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Сборка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C++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5972810" y="5631180"/>
            <a:ext cx="1804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DIN Alternate" panose="020B0500000000000000" charset="0"/>
                <a:cs typeface="DIN Alternate" panose="020B0500000000000000" charset="0"/>
              </a:rPr>
              <a:t>Reverse Proxy</a:t>
            </a:r>
            <a:endParaRPr 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535670" y="5625465"/>
            <a:ext cx="217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Контейнризация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Построение архитектуры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16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C4 (контейнеры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735" y="1478280"/>
            <a:ext cx="3486150" cy="4998720"/>
          </a:xfrm>
          <a:prstGeom prst="rect">
            <a:avLst/>
          </a:prstGeom>
        </p:spPr>
      </p:pic>
      <p:pic>
        <p:nvPicPr>
          <p:cNvPr id="5" name="Picture 4" descr="Блок-схема (взимодействие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060" y="223520"/>
            <a:ext cx="2980690" cy="6410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Проектирование базы данных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17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ERD (логический)"/>
          <p:cNvPicPr>
            <a:picLocks noChangeAspect="1"/>
          </p:cNvPicPr>
          <p:nvPr/>
        </p:nvPicPr>
        <p:blipFill>
          <a:blip r:embed="rId2"/>
          <a:srcRect l="5589" t="7877" r="8378" b="7394"/>
          <a:stretch>
            <a:fillRect/>
          </a:stretch>
        </p:blipFill>
        <p:spPr>
          <a:xfrm>
            <a:off x="902335" y="2423795"/>
            <a:ext cx="5433695" cy="3924935"/>
          </a:xfrm>
          <a:prstGeom prst="rect">
            <a:avLst/>
          </a:prstGeom>
        </p:spPr>
      </p:pic>
      <p:pic>
        <p:nvPicPr>
          <p:cNvPr id="5" name="Picture 4" descr="ERD (физический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650" y="1313815"/>
            <a:ext cx="4466590" cy="5321300"/>
          </a:xfrm>
          <a:prstGeom prst="rect">
            <a:avLst/>
          </a:prstGeom>
        </p:spPr>
      </p:pic>
      <p:sp>
        <p:nvSpPr>
          <p:cNvPr id="13" name="Content Placeholder 1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1490345"/>
            <a:ext cx="6536055" cy="9334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Под требуемый функционал, схему данных и архитектуру была спроектирована и реализована реляционная база данных</a:t>
            </a:r>
            <a:endParaRPr lang="ru-RU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Реализация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18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4175125" cy="20300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Разработана динамическая библиотека для встраивания в нативные </a:t>
            </a:r>
            <a:r>
              <a:rPr lang="en-US" alt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PAM-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таблицы, выступающая в роли клиента системы</a:t>
            </a:r>
            <a:endParaRPr lang="ru-RU" altLang="en-US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3" name="Picture 2" descr="UML (classes pam)"/>
          <p:cNvPicPr>
            <a:picLocks noChangeAspect="1"/>
          </p:cNvPicPr>
          <p:nvPr/>
        </p:nvPicPr>
        <p:blipFill>
          <a:blip r:embed="rId3"/>
          <a:srcRect l="2713" t="7182" r="2008" b="1969"/>
          <a:stretch>
            <a:fillRect/>
          </a:stretch>
        </p:blipFill>
        <p:spPr>
          <a:xfrm>
            <a:off x="4903470" y="690880"/>
            <a:ext cx="6673850" cy="5586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Реализация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19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4741545" cy="8655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Разработан сервер принятия решений, являющийся основным компонентом системы</a:t>
            </a:r>
            <a:endParaRPr lang="ru-RU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4" name="Picture 3" descr="UML (classes decision)"/>
          <p:cNvPicPr>
            <a:picLocks noChangeAspect="1"/>
          </p:cNvPicPr>
          <p:nvPr/>
        </p:nvPicPr>
        <p:blipFill>
          <a:blip r:embed="rId3"/>
          <a:srcRect l="1563" t="1890"/>
          <a:stretch>
            <a:fillRect/>
          </a:stretch>
        </p:blipFill>
        <p:spPr>
          <a:xfrm>
            <a:off x="5350510" y="512445"/>
            <a:ext cx="6713855" cy="4830445"/>
          </a:xfrm>
          <a:prstGeom prst="rect">
            <a:avLst/>
          </a:prstGeom>
        </p:spPr>
      </p:pic>
      <p:pic>
        <p:nvPicPr>
          <p:cNvPr id="5" name="Picture 4" descr="C4 (компоненты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2459990"/>
            <a:ext cx="4740910" cy="37579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Реализация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20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3239770" cy="264477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Спроектирован алгоритм принятия решения о предотавлении доступа на основе контекста, формируемого </a:t>
            </a:r>
            <a:r>
              <a:rPr lang="en-US" altLang="ru-RU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PAM-</a:t>
            </a:r>
            <a:r>
              <a:rPr lang="ru-RU" altLang="en-US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модулем</a:t>
            </a:r>
            <a:endParaRPr lang="ru-RU" altLang="en-US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5" name="Picture 4" descr="Блок-схема (алгоритм принятия решения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870" y="460375"/>
            <a:ext cx="3883025" cy="6167120"/>
          </a:xfrm>
          <a:prstGeom prst="rect">
            <a:avLst/>
          </a:prstGeom>
        </p:spPr>
      </p:pic>
      <p:pic>
        <p:nvPicPr>
          <p:cNvPr id="6" name="Picture 5" descr="UML (activit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695" y="460375"/>
            <a:ext cx="3239770" cy="61468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Работа системы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21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08330" y="1574800"/>
            <a:ext cx="38233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Диаграмма последовательности демонстрирует процесс получения доступа к контролируемому сервису и порядок взаимодействия между PAM-модулем, сервером принятия решений и базой данных.</a:t>
            </a:r>
            <a:endParaRPr lang="en-US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3" name="Picture 2" descr="UML (sequence получение доступа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755" y="0"/>
            <a:ext cx="532638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Работа системы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22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UML (sequence создание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" y="1378585"/>
            <a:ext cx="4578985" cy="4773930"/>
          </a:xfrm>
          <a:prstGeom prst="rect">
            <a:avLst/>
          </a:prstGeom>
        </p:spPr>
      </p:pic>
      <p:pic>
        <p:nvPicPr>
          <p:cNvPr id="7" name="Picture 6" descr="UML (sequence просмотр журнал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0" y="1378585"/>
            <a:ext cx="5308600" cy="34994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27430" y="6130925"/>
            <a:ext cx="471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Создание записи через веб-интерфейс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566535" y="4942840"/>
            <a:ext cx="4712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Просмотр страница</a:t>
            </a:r>
            <a:br>
              <a:rPr lang="ru-RU" altLang="en-US">
                <a:latin typeface="DIN Alternate" panose="020B0500000000000000" charset="0"/>
                <a:cs typeface="DIN Alternate" panose="020B0500000000000000" charset="0"/>
              </a:rPr>
            </a:b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(на примере журнала)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en-US" altLang="ru-RU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Развертывание</a:t>
            </a:r>
            <a:endParaRPr lang="en-US" altLang="ru-RU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23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08330" y="1574800"/>
            <a:ext cx="38233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>
                <a:latin typeface="DIN Alternate" panose="020B0500000000000000" charset="0"/>
                <a:cs typeface="DIN Alternate" panose="020B0500000000000000" charset="0"/>
              </a:rPr>
              <a:t>Диаграмма развертывания демонстрирует распределение компонентов системы между вычислительными узлами</a:t>
            </a:r>
            <a:br>
              <a:rPr lang="en-US" altLang="en-US">
                <a:latin typeface="DIN Alternate" panose="020B0500000000000000" charset="0"/>
                <a:cs typeface="DIN Alternate" panose="020B0500000000000000" charset="0"/>
              </a:rPr>
            </a:b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 Исходный код и инструкция по установке доступным на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GitHub</a:t>
            </a:r>
            <a:endParaRPr lang="en-US" altLang="ru-RU"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5" name="Picture 4" descr="UML (развертывание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525" y="280035"/>
            <a:ext cx="3584575" cy="6196965"/>
          </a:xfrm>
          <a:prstGeom prst="rect">
            <a:avLst/>
          </a:prstGeom>
        </p:spPr>
      </p:pic>
      <p:pic>
        <p:nvPicPr>
          <p:cNvPr id="6" name="Picture 5" descr="Снимок экрана 2026-06-01 в 21.39.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305" y="889635"/>
            <a:ext cx="1956671" cy="2286000"/>
          </a:xfrm>
          <a:prstGeom prst="rect">
            <a:avLst/>
          </a:prstGeom>
        </p:spPr>
      </p:pic>
      <p:pic>
        <p:nvPicPr>
          <p:cNvPr id="3" name="Picture 2" descr="Блок-схема (ресурсы системы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735070"/>
            <a:ext cx="5330190" cy="25546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Тестирование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24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08330" y="1574800"/>
            <a:ext cx="9680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Выполнено: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algn="l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- 14 тест-кейсов с 42 наборами тестовых данных (веб-интерфейс,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PAM-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модуль)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algn="l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- 11 тестовых коллекций для тестирования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API 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93 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тестами (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CRUD 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сервер и 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E2E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 тестирование)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  <a:p>
            <a:pPr algn="l"/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- 10 тестовых методов с 61 набором тестовым данных (</a:t>
            </a:r>
            <a:r>
              <a:rPr lang="en-US" altLang="ru-RU">
                <a:latin typeface="DIN Alternate" panose="020B0500000000000000" charset="0"/>
                <a:cs typeface="DIN Alternate" panose="020B0500000000000000" charset="0"/>
              </a:rPr>
              <a:t>Decision Engine</a:t>
            </a:r>
            <a:r>
              <a:rPr lang="ru-RU" altLang="en-US">
                <a:latin typeface="DIN Alternate" panose="020B0500000000000000" charset="0"/>
                <a:cs typeface="DIN Alternate" panose="020B0500000000000000" charset="0"/>
              </a:rPr>
              <a:t>)</a:t>
            </a:r>
            <a:endParaRPr lang="ru-RU" altLang="en-US"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Тест-кейсы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25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517843" y="2146300"/>
          <a:ext cx="5934075" cy="0"/>
        </p:xfrm>
        <a:graphic>
          <a:graphicData uri="http://schemas.openxmlformats.org/drawingml/2006/table">
            <a:tbl>
              <a:tblPr/>
              <a:tblGrid>
                <a:gridCol w="3048000"/>
                <a:gridCol w="1575435"/>
                <a:gridCol w="1310640"/>
              </a:tblGrid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ID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тест-кейса/Приоритет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TU0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3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3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Идея: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Проверка корректного функционирования логики “Решение по умолчанию”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Входные параметры: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—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История редактирования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Создан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11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.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05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.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2026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Новый тест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-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кейс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Предусловие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DEFAULT_DECISION=true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URL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/etc/clipe/clipe.conf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корректный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DNS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сервера принятий решений в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/etc/hosts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верный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Политика для данного пользователя НЕ существует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Выполняемая часть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Список команд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Ожидаемый результат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Результат теста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python3 test.py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tail -n 1 /var/log/auth.log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Вывод сообщение “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Access granted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”</a:t>
                      </a:r>
                      <a:br>
                        <a:rPr sz="1000">
                          <a:latin typeface="Times New Roman" panose="02020603050405020304"/>
                          <a:ea typeface="SimSun"/>
                        </a:rPr>
                      </a:b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 логах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:</a:t>
                      </a:r>
                      <a:br>
                        <a:rPr sz="1000">
                          <a:latin typeface="Times New Roman" panose="02020603050405020304"/>
                          <a:ea typeface="SimSun"/>
                        </a:rPr>
                      </a:b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- result=ALLOW</a:t>
                      </a:r>
                      <a:br>
                        <a:rPr sz="1000">
                          <a:latin typeface="Times New Roman" panose="02020603050405020304"/>
                          <a:ea typeface="SimSun"/>
                        </a:rPr>
                      </a:b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- policy_name=unknown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Pass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6955155" y="825500"/>
          <a:ext cx="4763770" cy="5207000"/>
        </p:xfrm>
        <a:graphic>
          <a:graphicData uri="http://schemas.openxmlformats.org/drawingml/2006/table">
            <a:tbl>
              <a:tblPr/>
              <a:tblGrid>
                <a:gridCol w="1939925"/>
                <a:gridCol w="1771650"/>
                <a:gridCol w="1052195"/>
              </a:tblGrid>
              <a:tr h="19304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ID тест-кейса/Приоритет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TU14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14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 gridSpan="3"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Идея: Проверка корректности навигации по страницам интерфейса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Входные параметры:</a:t>
                      </a:r>
                      <a:br>
                        <a:rPr sz="800">
                          <a:latin typeface="Times New Roman" panose="02020603050405020304"/>
                          <a:ea typeface="SimSun"/>
                        </a:rPr>
                      </a:b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- логин: admin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- пароль: admin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2405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История редактирования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Создан 11.05.2026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Новый тест-кейс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Предусловие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2405">
                <a:tc gridSpan="3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Открытая страница входа в систему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Выполняемая часть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Список команд</a:t>
                      </a:r>
                      <a:endParaRPr sz="8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Ожидаемый результат</a:t>
                      </a:r>
                      <a:endParaRPr sz="8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Результат теста</a:t>
                      </a:r>
                      <a:endParaRPr sz="8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8546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Ввести входные данные на странице входа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“Войти”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“Перейти к решениям”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“Запрос №N”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“Перейти к политике”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на название любого правила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Выбрать в боковом меню “Домашняя страниц”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“Сервисы”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Выбрать в боковом меню “Хосты”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Выбрать в боковом меню “Политики”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на имся любого пользователя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Нажать “Выйти” в хедере страницы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-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домашнюю сраницу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решений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запросов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привязки правил для данной политики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данного правила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домашнюю страницу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сервисов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хостов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политик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Переходь на страницу данного пользователя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Переход на страницу входа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SimSun"/>
                        </a:rPr>
                        <a:t>Pass</a:t>
                      </a:r>
                      <a:endParaRPr sz="8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Тест-кейсы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26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608013" y="1457325"/>
          <a:ext cx="5934075" cy="0"/>
        </p:xfrm>
        <a:graphic>
          <a:graphicData uri="http://schemas.openxmlformats.org/drawingml/2006/table">
            <a:tbl>
              <a:tblPr/>
              <a:tblGrid>
                <a:gridCol w="3048000"/>
                <a:gridCol w="1575435"/>
                <a:gridCol w="1310640"/>
              </a:tblGrid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ID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тест-кейса/Приоритет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TU0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7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7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Идея: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Проверка корректности работы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фильтр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а при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различных параметрах фильтров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Входные параметры: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входные параметры указаны в Таблице 7.1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История редактирования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Создан 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11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.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05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.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2026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Новый тест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-</a:t>
                      </a: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кейс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Предусловие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Открыта страница “Пользователи”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Выполняемая часть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Список команд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Ожидаемый результат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Результат теста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Ввести параметры фильтра из входных данных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arenR"/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(Опционально) Нажать “Сбросить фильтры”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В соответствии с входными данными представлен в Таблице 7.1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" panose="02020603050405020304"/>
                          <a:ea typeface="SimSun"/>
                        </a:rPr>
                        <a:t>Pass</a:t>
                      </a:r>
                      <a:endParaRPr sz="1000">
                        <a:latin typeface="Times New Roman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608330" y="4424680"/>
          <a:ext cx="7811135" cy="2514600"/>
        </p:xfrm>
        <a:graphic>
          <a:graphicData uri="http://schemas.openxmlformats.org/drawingml/2006/table">
            <a:tbl>
              <a:tblPr/>
              <a:tblGrid>
                <a:gridCol w="845185"/>
                <a:gridCol w="2150745"/>
                <a:gridCol w="4815205"/>
              </a:tblGrid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№ п/п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Параметры фильтров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Ожидаемый результат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1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-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Вывод записей в соответствии с выбранной страницей списка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2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Данные несуществующей записи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Вывод сообщение “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По текущим фильтрам записи не найдены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”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3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' OR '1'='1'; DROP 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DATABASE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; --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Вывод сообщение “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По текущим фильтрам записи не найдены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”. База данных не пострадала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4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&lt;script&gt;alert(1);&lt;/script&gt;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Вывод сообщение “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По текущим фильтрам записи не найдены</a:t>
                      </a: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”. Окно предупреждения не открылось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4455" indent="0" algn="just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5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Данные существующей записи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4455" indent="0" algn="l" defTabSz="914400" fontAlgn="auto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>
                          <a:latin typeface="Times New Roman Regular" panose="02020603050405020304"/>
                          <a:ea typeface="SimSun"/>
                        </a:rPr>
                        <a:t>Вывод записей соответствующих заданному фильтру</a:t>
                      </a:r>
                      <a:endParaRPr sz="1000">
                        <a:latin typeface="Times New Roman Regular" panose="02020603050405020304"/>
                        <a:ea typeface="SimSun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Модульное тестирование</a:t>
            </a:r>
            <a:endParaRPr lang="ru-RU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27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3" name="Picture 2" descr="Снимок экрана 2026-06-01 в 22.17.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39570"/>
            <a:ext cx="5067935" cy="3517265"/>
          </a:xfrm>
          <a:prstGeom prst="rect">
            <a:avLst/>
          </a:prstGeom>
        </p:spPr>
      </p:pic>
      <p:pic>
        <p:nvPicPr>
          <p:cNvPr id="5" name="Picture 4" descr="Снимок экрана 2026-06-01 в 22.54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535" y="210820"/>
            <a:ext cx="4926330" cy="6311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ru-RU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Тестирование </a:t>
            </a:r>
            <a:r>
              <a:rPr lang="en-US" altLang="ru-RU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API</a:t>
            </a:r>
            <a:endParaRPr lang="en-US" altLang="ru-RU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28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3" name="Picture 2" descr="Снимок экрана 2026-06-01 в 22.18.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015" y="1313815"/>
            <a:ext cx="4933315" cy="1798320"/>
          </a:xfrm>
          <a:prstGeom prst="rect">
            <a:avLst/>
          </a:prstGeom>
        </p:spPr>
      </p:pic>
      <p:pic>
        <p:nvPicPr>
          <p:cNvPr id="4" name="Picture 3" descr="Снимок экрана 2026-06-01 в 22.35.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4548505"/>
            <a:ext cx="7350760" cy="1631315"/>
          </a:xfrm>
          <a:prstGeom prst="rect">
            <a:avLst/>
          </a:prstGeom>
        </p:spPr>
      </p:pic>
      <p:pic>
        <p:nvPicPr>
          <p:cNvPr id="5" name="Picture 4" descr="Снимок экрана 2026-06-01 в 22.35.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1676400"/>
            <a:ext cx="6139180" cy="25095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10"/>
          <p:cNvGraphicFramePr/>
          <p:nvPr/>
        </p:nvGraphicFramePr>
        <p:xfrm>
          <a:off x="0" y="6477000"/>
          <a:ext cx="12192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Михайлов Роман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ru-RU" altLang="en-US">
                          <a:solidFill>
                            <a:schemeClr val="bg2">
                              <a:lumMod val="90000"/>
                            </a:schemeClr>
                          </a:solidFill>
                          <a:latin typeface="DIN Alternate" panose="020B0500000000000000" charset="0"/>
                          <a:cs typeface="DIN Alternate" panose="020B0500000000000000" charset="0"/>
                        </a:rPr>
                        <a:t>29</a:t>
                      </a:r>
                      <a:endParaRPr lang="ru-RU" altLang="en-US">
                        <a:solidFill>
                          <a:schemeClr val="bg2">
                            <a:lumMod val="90000"/>
                          </a:schemeClr>
                        </a:solidFill>
                        <a:latin typeface="DIN Alternate" panose="020B0500000000000000" charset="0"/>
                        <a:cs typeface="DIN Alternate" panose="020B0500000000000000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</a:tr>
            </a:tbl>
          </a:graphicData>
        </a:graphic>
      </p:graphicFrame>
      <p:pic>
        <p:nvPicPr>
          <p:cNvPr id="7" name="Picture 6" descr="Снимок экрана 2026-06-01 в 21.46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3945890"/>
            <a:ext cx="1960880" cy="2286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63165" y="2178050"/>
            <a:ext cx="7265035" cy="899160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 sz="4400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Демонстрация работы системы</a:t>
            </a:r>
            <a:endParaRPr lang="ru-RU" altLang="en-US" sz="4400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901950" y="2178050"/>
            <a:ext cx="6388100" cy="899160"/>
          </a:xfrm>
        </p:spPr>
        <p:txBody>
          <a:bodyPr>
            <a:normAutofit fontScale="90000"/>
          </a:bodyPr>
          <a:p>
            <a:pPr marL="0" indent="0" algn="ctr">
              <a:buNone/>
            </a:pPr>
            <a:r>
              <a:rPr lang="ru-RU" altLang="en-US" sz="4400" spc="0">
                <a:solidFill>
                  <a:schemeClr val="tx1"/>
                </a:solidFill>
                <a:uFillTx/>
                <a:latin typeface="DIN Alternate" panose="020B0500000000000000" charset="0"/>
                <a:cs typeface="DIN Alternate" panose="020B0500000000000000" charset="0"/>
              </a:rPr>
              <a:t>Спасибо за внимание!</a:t>
            </a:r>
            <a:endParaRPr lang="ru-RU" altLang="en-US" sz="4400" spc="0">
              <a:solidFill>
                <a:schemeClr val="tx1"/>
              </a:solidFill>
              <a:uFillTx/>
              <a:latin typeface="DIN Alternate" panose="020B0500000000000000" charset="0"/>
              <a:cs typeface="DIN Alternate" panose="020B0500000000000000" charset="0"/>
            </a:endParaRPr>
          </a:p>
        </p:txBody>
      </p:sp>
      <p:pic>
        <p:nvPicPr>
          <p:cNvPr id="2" name="Picture 1" descr="Снимок экрана 2026-06-01 в 21.43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90" y="3945890"/>
            <a:ext cx="1958552" cy="2286000"/>
          </a:xfrm>
          <a:prstGeom prst="rect">
            <a:avLst/>
          </a:prstGeom>
        </p:spPr>
      </p:pic>
      <p:pic>
        <p:nvPicPr>
          <p:cNvPr id="5" name="Picture 4" descr="Снимок экрана 2026-06-01 в 21.42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45890"/>
            <a:ext cx="1970405" cy="2286000"/>
          </a:xfrm>
          <a:prstGeom prst="rect">
            <a:avLst/>
          </a:prstGeom>
        </p:spPr>
      </p:pic>
      <p:pic>
        <p:nvPicPr>
          <p:cNvPr id="6" name="Picture 5" descr="Снимок экрана 2026-06-01 в 21.40.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580" y="3945890"/>
            <a:ext cx="1957282" cy="2286000"/>
          </a:xfrm>
          <a:prstGeom prst="rect">
            <a:avLst/>
          </a:prstGeom>
        </p:spPr>
      </p:pic>
      <p:pic>
        <p:nvPicPr>
          <p:cNvPr id="7" name="Picture 6" descr="Снимок экрана 2026-06-01 в 21.46.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070" y="3945890"/>
            <a:ext cx="1960880" cy="2286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TABLE_ENDDRAG_ORIGIN_RECT" val="375*409"/>
  <p:tag name="TABLE_ENDDRAG_RECT" val="536*47*375*410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TABLE_ENDDRAG_ORIGIN_RECT" val="615*216"/>
  <p:tag name="TABLE_ENDDRAG_RECT" val="246*162*615*216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6962</Words>
  <Application>WPS Presentation</Application>
  <PresentationFormat>Widescreen</PresentationFormat>
  <Paragraphs>480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SimSun</vt:lpstr>
      <vt:lpstr>Wingdings</vt:lpstr>
      <vt:lpstr>Wingdings</vt:lpstr>
      <vt:lpstr>DIN Alternate</vt:lpstr>
      <vt:lpstr>汉仪旗黑Y3-35简</vt:lpstr>
      <vt:lpstr>Microsoft YaHei</vt:lpstr>
      <vt:lpstr>汉仪旗黑</vt:lpstr>
      <vt:lpstr>Arial Unicode MS</vt:lpstr>
      <vt:lpstr>Calibri</vt:lpstr>
      <vt:lpstr>Helvetica Neue</vt:lpstr>
      <vt:lpstr>Times New Roman</vt:lpstr>
      <vt:lpstr>SimSun</vt:lpstr>
      <vt:lpstr>宋体-简</vt:lpstr>
      <vt:lpstr>Times New Roman Regular</vt:lpstr>
      <vt:lpstr>WPS</vt:lpstr>
      <vt:lpstr>CLiPE</vt:lpstr>
      <vt:lpstr>Постановка задачи</vt:lpstr>
      <vt:lpstr>Проектирование субъектов взаимодействия</vt:lpstr>
      <vt:lpstr>Проектирование функциональности</vt:lpstr>
      <vt:lpstr>Проектирование функциональности</vt:lpstr>
      <vt:lpstr>Проектирование функциональности</vt:lpstr>
      <vt:lpstr>Проектирование бизнес-процесса</vt:lpstr>
      <vt:lpstr>Проектирование сценариев взамодействия</vt:lpstr>
      <vt:lpstr>Прототип</vt:lpstr>
      <vt:lpstr>Прототип</vt:lpstr>
      <vt:lpstr>Прототип</vt:lpstr>
      <vt:lpstr>Прототип</vt:lpstr>
      <vt:lpstr>Прототип</vt:lpstr>
      <vt:lpstr>Прототип</vt:lpstr>
      <vt:lpstr>Используемые технологии</vt:lpstr>
      <vt:lpstr>Построение архитектуры</vt:lpstr>
      <vt:lpstr>Проектирование базы данных</vt:lpstr>
      <vt:lpstr>Реализация</vt:lpstr>
      <vt:lpstr>Реализация</vt:lpstr>
      <vt:lpstr>Реализация</vt:lpstr>
      <vt:lpstr>Работа системы</vt:lpstr>
      <vt:lpstr>Работа системы</vt:lpstr>
      <vt:lpstr>Развертывание</vt:lpstr>
      <vt:lpstr>Тестирование</vt:lpstr>
      <vt:lpstr>Тест-кейсы</vt:lpstr>
      <vt:lpstr>Тест-кейсы</vt:lpstr>
      <vt:lpstr>Модульное тестирование</vt:lpstr>
      <vt:lpstr>Тестирование API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roman</dc:creator>
  <cp:lastModifiedBy>Роман Михайлов</cp:lastModifiedBy>
  <cp:revision>134</cp:revision>
  <dcterms:created xsi:type="dcterms:W3CDTF">2026-06-02T05:40:31Z</dcterms:created>
  <dcterms:modified xsi:type="dcterms:W3CDTF">2026-06-02T05:40:31Z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747B5CC2BE016C2465871D6AA46CC1F7_41</vt:lpwstr>
  </property>
</Properties>
</file>